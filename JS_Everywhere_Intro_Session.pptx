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0446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5AD75-03B8-371E-DE13-2FF37C035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057A37-E094-736D-ACD5-DFFE944C4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7C8CF0-D650-F778-5331-CA3F3C6B4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D2A47-EDDE-77BD-C560-EE35F99C81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75966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8.png"/><Relationship Id="rId5" Type="http://schemas.openxmlformats.org/officeDocument/2006/relationships/image" Target="../media/image6.png"/><Relationship Id="rId10" Type="http://schemas.openxmlformats.org/officeDocument/2006/relationships/image" Target="../media/image17.png"/><Relationship Id="rId4" Type="http://schemas.openxmlformats.org/officeDocument/2006/relationships/image" Target="../media/image15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1.png"/><Relationship Id="rId7" Type="http://schemas.openxmlformats.org/officeDocument/2006/relationships/hyperlink" Target="https://www.udemy.com/course/draft/7301471/?referralCode=6B38C21C253BE94FDA54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udemy.com/course/programming-with-c-syntax-oop-data-structure/?referralCode=434A64158C0C5F69C02F" TargetMode="External"/><Relationship Id="rId5" Type="http://schemas.openxmlformats.org/officeDocument/2006/relationships/hyperlink" Target="https://www.udemy.com/course/introduction-to-programming-v/?referralCode=CEC58167F8715CFCA769" TargetMode="External"/><Relationship Id="rId4" Type="http://schemas.openxmlformats.org/officeDocument/2006/relationships/hyperlink" Target="https://mostafasaqly.github.io/programming-saqly/" TargetMode="External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21488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kern="0" spc="100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EVERYWHERE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Web to AI — A Real Learning Journey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language. Seven directions. Six months, built in public.</a:t>
            </a:r>
            <a:endParaRPr lang="en-US" sz="1400" dirty="0"/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80714970-8516-4EA8-5F46-3D3F4EB4F4D4}"/>
              </a:ext>
            </a:extLst>
          </p:cNvPr>
          <p:cNvSpPr/>
          <p:nvPr/>
        </p:nvSpPr>
        <p:spPr>
          <a:xfrm>
            <a:off x="10300836" y="59345"/>
            <a:ext cx="1737360" cy="1737360"/>
          </a:xfrm>
          <a:prstGeom prst="ellipse">
            <a:avLst/>
          </a:prstGeom>
          <a:solidFill>
            <a:srgbClr val="1B2444"/>
          </a:solidFill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ISN’T A COURSE. THIS IS NEW JOURNEY</a:t>
            </a:r>
          </a:p>
        </p:txBody>
      </p:sp>
      <p:sp>
        <p:nvSpPr>
          <p:cNvPr id="3" name="Text 1"/>
          <p:cNvSpPr/>
          <p:nvPr/>
        </p:nvSpPr>
        <p:spPr>
          <a:xfrm>
            <a:off x="640080" y="2249424"/>
            <a:ext cx="64008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300000"/>
              </a:lnSpc>
              <a:buNone/>
            </a:pPr>
            <a:r>
              <a:rPr lang="en-US" sz="16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a real learning journey. We start with the JavaScript fundamentals that get you hired — then branch into every direction the language now reaches mobile, desktop, extensions, automation, and AI. 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406640" y="2121408"/>
            <a:ext cx="566928" cy="566928"/>
          </a:xfrm>
          <a:prstGeom prst="ellipse">
            <a:avLst/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4041" y="2268809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83880" y="20939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by design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83880" y="245059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pretending to be an expert on day one — that’s the strength, not a weakness.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406640" y="3328416"/>
            <a:ext cx="566928" cy="566928"/>
          </a:xfrm>
          <a:prstGeom prst="ellipse">
            <a:avLst/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4041" y="3475817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83880" y="33009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project every module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183880" y="36576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concept lands in a working, shippable build.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406640" y="4535424"/>
            <a:ext cx="566928" cy="566928"/>
          </a:xfrm>
          <a:prstGeom prst="ellipse">
            <a:avLst/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4041" y="4682825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83880" y="45079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alongside the audience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183880" y="486460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games are new to us too — we figure it out together.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LANGUAGE. SEVEN DIRECTIONS.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" y="118872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below is built with JavaScript / TypeScript — same language, seven different worlds.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185416" y="1965960"/>
            <a:ext cx="1371600" cy="1371600"/>
          </a:xfrm>
          <a:prstGeom prst="ellipse">
            <a:avLst/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32" y="232257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56816" y="34107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334256" y="1965960"/>
            <a:ext cx="1371600" cy="1371600"/>
          </a:xfrm>
          <a:prstGeom prst="ellipse">
            <a:avLst/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322576"/>
            <a:ext cx="658368" cy="6583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05656" y="34107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483096" y="1965960"/>
            <a:ext cx="1371600" cy="1371600"/>
          </a:xfrm>
          <a:prstGeom prst="ellipse">
            <a:avLst/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9732" y="2322576"/>
            <a:ext cx="658368" cy="6583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54496" y="34107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 Native)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8631936" y="1965960"/>
            <a:ext cx="1371600" cy="1371600"/>
          </a:xfrm>
          <a:prstGeom prst="ellipse">
            <a:avLst/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8552" y="2322576"/>
            <a:ext cx="658368" cy="6583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403336" y="34107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(Electron)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3259836" y="4160520"/>
            <a:ext cx="1371600" cy="1371600"/>
          </a:xfrm>
          <a:prstGeom prst="ellipse">
            <a:avLst/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6452" y="4517136"/>
            <a:ext cx="658368" cy="6583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031236" y="56052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5408676" y="4160520"/>
            <a:ext cx="1371600" cy="1371600"/>
          </a:xfrm>
          <a:prstGeom prst="ellipse">
            <a:avLst/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5292" y="4517136"/>
            <a:ext cx="658368" cy="6583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80076" y="56052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50" dirty="0"/>
          </a:p>
        </p:txBody>
      </p:sp>
      <p:sp>
        <p:nvSpPr>
          <p:cNvPr id="22" name="Shape 14"/>
          <p:cNvSpPr/>
          <p:nvPr/>
        </p:nvSpPr>
        <p:spPr>
          <a:xfrm>
            <a:off x="7557516" y="4160520"/>
            <a:ext cx="1371600" cy="1371600"/>
          </a:xfrm>
          <a:prstGeom prst="ellipse">
            <a:avLst/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4132" y="4517136"/>
            <a:ext cx="658368" cy="65836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7328916" y="56052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JOURNEY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55448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77340" y="1874520"/>
            <a:ext cx="731520" cy="731520"/>
          </a:xfrm>
          <a:prstGeom prst="ellipse">
            <a:avLst/>
          </a:prstGeom>
          <a:solidFill>
            <a:srgbClr val="222C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535" y="206471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7889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85800" y="33832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56432" y="155448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347972" y="1874520"/>
            <a:ext cx="731520" cy="731520"/>
          </a:xfrm>
          <a:prstGeom prst="ellipse">
            <a:avLst/>
          </a:prstGeom>
          <a:solidFill>
            <a:srgbClr val="222C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8167" y="206471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56432" y="27889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Text 8"/>
          <p:cNvSpPr/>
          <p:nvPr/>
        </p:nvSpPr>
        <p:spPr>
          <a:xfrm>
            <a:off x="3456432" y="33832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/ WEEK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27064" y="155448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118604" y="1874520"/>
            <a:ext cx="731520" cy="731520"/>
          </a:xfrm>
          <a:prstGeom prst="ellipse">
            <a:avLst/>
          </a:prstGeom>
          <a:solidFill>
            <a:srgbClr val="222C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8799" y="2064715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27064" y="27889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7" name="Text 12"/>
          <p:cNvSpPr/>
          <p:nvPr/>
        </p:nvSpPr>
        <p:spPr>
          <a:xfrm>
            <a:off x="6227064" y="33832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/ SESSION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997696" y="155448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9889236" y="1874520"/>
            <a:ext cx="731520" cy="731520"/>
          </a:xfrm>
          <a:prstGeom prst="ellipse">
            <a:avLst/>
          </a:prstGeom>
          <a:solidFill>
            <a:srgbClr val="222C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9431" y="2064715"/>
            <a:ext cx="351130" cy="35113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997696" y="27889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22" name="Text 16"/>
          <p:cNvSpPr/>
          <p:nvPr/>
        </p:nvSpPr>
        <p:spPr>
          <a:xfrm>
            <a:off x="8997696" y="33832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PROJECTS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85800" y="4206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weeks × 6 hours = 156 hours of recorded content, spread across roughly six months.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85800" y="5074920"/>
            <a:ext cx="2074985" cy="502920"/>
          </a:xfrm>
          <a:prstGeom prst="rect">
            <a:avLst/>
          </a:prstGeom>
          <a:solidFill>
            <a:srgbClr val="F7DF1E"/>
          </a:solidFill>
          <a:ln w="19050">
            <a:solidFill>
              <a:srgbClr val="0F17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685800" y="5074920"/>
            <a:ext cx="20749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30h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2760785" y="5074920"/>
            <a:ext cx="2904978" cy="502920"/>
          </a:xfrm>
          <a:prstGeom prst="rect">
            <a:avLst/>
          </a:prstGeom>
          <a:solidFill>
            <a:srgbClr val="E0C934"/>
          </a:solidFill>
          <a:ln w="19050">
            <a:solidFill>
              <a:srgbClr val="0F17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2760785" y="5074920"/>
            <a:ext cx="2904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42h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665763" y="5074920"/>
            <a:ext cx="1659988" cy="502920"/>
          </a:xfrm>
          <a:prstGeom prst="rect">
            <a:avLst/>
          </a:prstGeom>
          <a:solidFill>
            <a:srgbClr val="C4B14A"/>
          </a:solidFill>
          <a:ln w="19050">
            <a:solidFill>
              <a:srgbClr val="0F17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5665763" y="5074920"/>
            <a:ext cx="16599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7325751" y="5074920"/>
            <a:ext cx="1244991" cy="502920"/>
          </a:xfrm>
          <a:prstGeom prst="rect">
            <a:avLst/>
          </a:prstGeom>
          <a:solidFill>
            <a:srgbClr val="A69B5C"/>
          </a:solidFill>
          <a:ln w="19050">
            <a:solidFill>
              <a:srgbClr val="0F17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7325751" y="5074920"/>
            <a:ext cx="12449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18h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8570742" y="5074920"/>
            <a:ext cx="829994" cy="502920"/>
          </a:xfrm>
          <a:prstGeom prst="rect">
            <a:avLst/>
          </a:prstGeom>
          <a:solidFill>
            <a:srgbClr val="8891AE"/>
          </a:solidFill>
          <a:ln w="19050">
            <a:solidFill>
              <a:srgbClr val="0F17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8570742" y="5074920"/>
            <a:ext cx="8299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12h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9400735" y="5074920"/>
            <a:ext cx="829994" cy="502920"/>
          </a:xfrm>
          <a:prstGeom prst="rect">
            <a:avLst/>
          </a:prstGeom>
          <a:solidFill>
            <a:srgbClr val="6B7396"/>
          </a:solidFill>
          <a:ln w="19050">
            <a:solidFill>
              <a:srgbClr val="0F17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9400735" y="5074920"/>
            <a:ext cx="8299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12h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10230729" y="5074920"/>
            <a:ext cx="1244991" cy="502920"/>
          </a:xfrm>
          <a:prstGeom prst="rect">
            <a:avLst/>
          </a:prstGeom>
          <a:solidFill>
            <a:srgbClr val="4E5680"/>
          </a:solidFill>
          <a:ln w="19050">
            <a:solidFill>
              <a:srgbClr val="0F17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10230729" y="5074920"/>
            <a:ext cx="12449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18h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by track — Full-Stack Web is the backbone; everything else builds on it.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TRACKS — PART 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1: the foundation everything else stands 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10789920" cy="960120"/>
          </a:xfrm>
          <a:prstGeom prst="roundRect">
            <a:avLst>
              <a:gd name="adj" fmla="val 9524"/>
            </a:avLst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700784"/>
            <a:ext cx="658368" cy="658368"/>
          </a:xfrm>
          <a:prstGeom prst="ellipse">
            <a:avLst/>
          </a:prstGeom>
          <a:solidFill>
            <a:srgbClr val="222C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576" y="1871960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62763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JS/TS Foundations + Web Basics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28800" y="2011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JavaScript, ES6+, async, TypeScript, Git — plus HTML/CSS/DOM refreshers. Project: Task Manager App.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85800" y="2697480"/>
            <a:ext cx="10789920" cy="960120"/>
          </a:xfrm>
          <a:prstGeom prst="roundRect">
            <a:avLst>
              <a:gd name="adj" fmla="val 9524"/>
            </a:avLst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14400" y="2843784"/>
            <a:ext cx="658368" cy="658368"/>
          </a:xfrm>
          <a:prstGeom prst="ellipse">
            <a:avLst/>
          </a:prstGeom>
          <a:solidFill>
            <a:srgbClr val="222C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576" y="3014960"/>
            <a:ext cx="316017" cy="31601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28800" y="277063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Full-Stack Web Application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828800" y="3154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front-end, Express/Node back-end, auth, databases, deployment. Capstone: a live, deployed course platform.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85800" y="3840480"/>
            <a:ext cx="10789920" cy="960120"/>
          </a:xfrm>
          <a:prstGeom prst="roundRect">
            <a:avLst>
              <a:gd name="adj" fmla="val 9524"/>
            </a:avLst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914400" y="3986784"/>
            <a:ext cx="658368" cy="658368"/>
          </a:xfrm>
          <a:prstGeom prst="ellipse">
            <a:avLst/>
          </a:prstGeom>
          <a:solidFill>
            <a:srgbClr val="222C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576" y="4157960"/>
            <a:ext cx="316017" cy="31601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28800" y="391363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Mobile Development (React Native)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828800" y="4297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backend, new screen. Navigation, forms, local storage, auth, and a packaged Android app.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85800" y="4983480"/>
            <a:ext cx="10789920" cy="960120"/>
          </a:xfrm>
          <a:prstGeom prst="roundRect">
            <a:avLst>
              <a:gd name="adj" fmla="val 9524"/>
            </a:avLst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914400" y="5129784"/>
            <a:ext cx="658368" cy="658368"/>
          </a:xfrm>
          <a:prstGeom prst="ellipse">
            <a:avLst/>
          </a:prstGeom>
          <a:solidFill>
            <a:srgbClr val="222C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576" y="5300960"/>
            <a:ext cx="316017" cy="31601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828800" y="505663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Desktop Applications (Electron)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828800" y="5440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web skillset into an installable desktop app with file system access and a local database.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TRACKS — PART 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2: specialize into where JavaScript is headed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10789920" cy="960120"/>
          </a:xfrm>
          <a:prstGeom prst="roundRect">
            <a:avLst>
              <a:gd name="adj" fmla="val 9524"/>
            </a:avLst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700784"/>
            <a:ext cx="658368" cy="658368"/>
          </a:xfrm>
          <a:prstGeom prst="ellipse">
            <a:avLst/>
          </a:prstGeom>
          <a:solidFill>
            <a:srgbClr val="222C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576" y="1871960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62763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Chrome Extension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28800" y="2011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Manifest, content &amp; background scripts, extension storage. Project: an AI-powered article summarizer.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85800" y="2697480"/>
            <a:ext cx="10789920" cy="960120"/>
          </a:xfrm>
          <a:prstGeom prst="roundRect">
            <a:avLst>
              <a:gd name="adj" fmla="val 9524"/>
            </a:avLst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14400" y="2843784"/>
            <a:ext cx="658368" cy="658368"/>
          </a:xfrm>
          <a:prstGeom prst="ellipse">
            <a:avLst/>
          </a:prstGeom>
          <a:solidFill>
            <a:srgbClr val="222C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576" y="3014960"/>
            <a:ext cx="316017" cy="31601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28800" y="277063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Automation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828800" y="3154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scripts, scheduled cron jobs, email automation, Google Apps Script. Project: an automated registration system.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85800" y="3840480"/>
            <a:ext cx="10789920" cy="960120"/>
          </a:xfrm>
          <a:prstGeom prst="roundRect">
            <a:avLst>
              <a:gd name="adj" fmla="val 9524"/>
            </a:avLst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914400" y="3986784"/>
            <a:ext cx="658368" cy="658368"/>
          </a:xfrm>
          <a:prstGeom prst="ellipse">
            <a:avLst/>
          </a:prstGeom>
          <a:solidFill>
            <a:srgbClr val="222C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576" y="4157960"/>
            <a:ext cx="316017" cy="31601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28800" y="391363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AI Application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828800" y="4297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APIs, prompt engineering, structured outputs, embeddings, RAG, agents, MCP servers. Project: an AI assistant that answers student questions.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85800" y="5120640"/>
            <a:ext cx="10789920" cy="1051560"/>
          </a:xfrm>
          <a:prstGeom prst="roundRect">
            <a:avLst>
              <a:gd name="adj" fmla="val 8696"/>
            </a:avLst>
          </a:prstGeom>
          <a:solidFill>
            <a:srgbClr val="222C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914400" y="5266944"/>
            <a:ext cx="749808" cy="749808"/>
          </a:xfrm>
          <a:prstGeom prst="ellipse">
            <a:avLst/>
          </a:prstGeom>
          <a:solidFill>
            <a:srgbClr val="0F173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350" y="5461894"/>
            <a:ext cx="359908" cy="3599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874520" y="5266944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track ends in its own shippable project — and all seven eventually merge into one final, integrated system.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ALL COMES TOGETHER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graduation project pulls every track into one integrated system: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86968" y="2153412"/>
            <a:ext cx="585216" cy="585216"/>
          </a:xfrm>
          <a:prstGeom prst="ellipse">
            <a:avLst/>
          </a:prstGeom>
          <a:solidFill>
            <a:srgbClr val="222C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124" y="2305568"/>
            <a:ext cx="280904" cy="280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2880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97680" y="1828800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498848" y="2153412"/>
            <a:ext cx="585216" cy="585216"/>
          </a:xfrm>
          <a:prstGeom prst="ellipse">
            <a:avLst/>
          </a:prstGeom>
          <a:solidFill>
            <a:srgbClr val="222C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1004" y="2305568"/>
            <a:ext cx="280904" cy="2809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2080" y="182880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API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909560" y="1828800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8110728" y="2153412"/>
            <a:ext cx="585216" cy="585216"/>
          </a:xfrm>
          <a:prstGeom prst="ellipse">
            <a:avLst/>
          </a:prstGeom>
          <a:solidFill>
            <a:srgbClr val="222C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884" y="2305568"/>
            <a:ext cx="280904" cy="2809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823960" y="182880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85800" y="3264408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886968" y="3589020"/>
            <a:ext cx="585216" cy="585216"/>
          </a:xfrm>
          <a:prstGeom prst="ellipse">
            <a:avLst/>
          </a:prstGeom>
          <a:solidFill>
            <a:srgbClr val="222C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9124" y="3741176"/>
            <a:ext cx="280904" cy="28090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3264408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297680" y="3264408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4498848" y="3589020"/>
            <a:ext cx="585216" cy="585216"/>
          </a:xfrm>
          <a:prstGeom prst="ellipse">
            <a:avLst/>
          </a:prstGeom>
          <a:solidFill>
            <a:srgbClr val="222C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1004" y="3741176"/>
            <a:ext cx="280904" cy="28090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12080" y="3264408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Workflow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7909560" y="3264408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8110728" y="3589020"/>
            <a:ext cx="585216" cy="585216"/>
          </a:xfrm>
          <a:prstGeom prst="ellipse">
            <a:avLst/>
          </a:prstGeom>
          <a:solidFill>
            <a:srgbClr val="222C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2884" y="3741176"/>
            <a:ext cx="280904" cy="28090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823960" y="3264408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85800" y="4700016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1"/>
          <p:cNvSpPr/>
          <p:nvPr/>
        </p:nvSpPr>
        <p:spPr>
          <a:xfrm>
            <a:off x="886968" y="5024628"/>
            <a:ext cx="585216" cy="585216"/>
          </a:xfrm>
          <a:prstGeom prst="ellipse">
            <a:avLst/>
          </a:prstGeom>
          <a:solidFill>
            <a:srgbClr val="222C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9124" y="5176784"/>
            <a:ext cx="280904" cy="28090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600200" y="4700016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4297680" y="4700016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4"/>
          <p:cNvSpPr/>
          <p:nvPr/>
        </p:nvSpPr>
        <p:spPr>
          <a:xfrm>
            <a:off x="4498848" y="5024628"/>
            <a:ext cx="585216" cy="585216"/>
          </a:xfrm>
          <a:prstGeom prst="ellipse">
            <a:avLst/>
          </a:prstGeom>
          <a:solidFill>
            <a:srgbClr val="222C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51004" y="5176784"/>
            <a:ext cx="280904" cy="28090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212080" y="4700016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Test Suite</a:t>
            </a:r>
            <a:endParaRPr lang="en-US" sz="1300" dirty="0"/>
          </a:p>
        </p:txBody>
      </p:sp>
      <p:sp>
        <p:nvSpPr>
          <p:cNvPr id="36" name="Shape 26"/>
          <p:cNvSpPr/>
          <p:nvPr/>
        </p:nvSpPr>
        <p:spPr>
          <a:xfrm>
            <a:off x="7909560" y="4700016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27"/>
          <p:cNvSpPr/>
          <p:nvPr/>
        </p:nvSpPr>
        <p:spPr>
          <a:xfrm>
            <a:off x="8110728" y="5024628"/>
            <a:ext cx="585216" cy="585216"/>
          </a:xfrm>
          <a:prstGeom prst="ellipse">
            <a:avLst/>
          </a:prstGeom>
          <a:solidFill>
            <a:srgbClr val="222C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62884" y="5176784"/>
            <a:ext cx="280904" cy="280904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8823960" y="4700016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Deployment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WE’LL RUN THIS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554480"/>
            <a:ext cx="621792" cy="621792"/>
          </a:xfrm>
          <a:prstGeom prst="ellipse">
            <a:avLst/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66" y="1716146"/>
            <a:ext cx="298460" cy="2984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sessions a week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508760" y="19202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hours each — one steady rhythm for six months.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85800" y="2788920"/>
            <a:ext cx="621792" cy="621792"/>
          </a:xfrm>
          <a:prstGeom prst="ellipse">
            <a:avLst/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466" y="2950586"/>
            <a:ext cx="298460" cy="298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788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Concept, then build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508760" y="315468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pairs an explanation episode with a step-by-step project episode.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85800" y="4023360"/>
            <a:ext cx="621792" cy="621792"/>
          </a:xfrm>
          <a:prstGeom prst="ellipse">
            <a:avLst/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466" y="4185026"/>
            <a:ext cx="298460" cy="298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4023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beginners → job-ready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508760" y="43891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zero assumptions in Module 1; by the capstone you’ve shipped a deployed product.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766560" y="1554480"/>
            <a:ext cx="4754880" cy="3977640"/>
          </a:xfrm>
          <a:prstGeom prst="roundRect">
            <a:avLst>
              <a:gd name="adj" fmla="val 2759"/>
            </a:avLst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7086600" y="1783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NEED TO START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7132320" y="2404872"/>
            <a:ext cx="109728" cy="109728"/>
          </a:xfrm>
          <a:prstGeom prst="ellipse">
            <a:avLst/>
          </a:prstGeom>
          <a:solidFill>
            <a:srgbClr val="F7D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7406640" y="22585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 that runs VS Code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132320" y="3063240"/>
            <a:ext cx="109728" cy="109728"/>
          </a:xfrm>
          <a:prstGeom prst="ellipse">
            <a:avLst/>
          </a:prstGeom>
          <a:solidFill>
            <a:srgbClr val="F7D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7406640" y="291693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Curiosity, not credentials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7132320" y="3721608"/>
            <a:ext cx="109728" cy="109728"/>
          </a:xfrm>
          <a:prstGeom prst="ellipse">
            <a:avLst/>
          </a:prstGeom>
          <a:solidFill>
            <a:srgbClr val="F7D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7406640" y="357530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GitHub account (we’ll set it up)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7132320" y="4379976"/>
            <a:ext cx="109728" cy="109728"/>
          </a:xfrm>
          <a:prstGeom prst="ellipse">
            <a:avLst/>
          </a:prstGeom>
          <a:solidFill>
            <a:srgbClr val="F7D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7406640" y="4233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for 6 hrs/week, at your own pace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EACH SESSION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is broken into clear parts — not one long, unstructured recording.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401568" cy="1965960"/>
          </a:xfrm>
          <a:prstGeom prst="roundRect">
            <a:avLst>
              <a:gd name="adj" fmla="val 4651"/>
            </a:avLst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41832" y="2039112"/>
            <a:ext cx="658368" cy="658368"/>
          </a:xfrm>
          <a:prstGeom prst="ellipse">
            <a:avLst/>
          </a:prstGeom>
          <a:solidFill>
            <a:srgbClr val="222C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008" y="2210288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1832" y="2834640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Concept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41832" y="3200400"/>
            <a:ext cx="2889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explained clearly: what it is, why it matters, when to use it.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88536" y="1783080"/>
            <a:ext cx="3401568" cy="1965960"/>
          </a:xfrm>
          <a:prstGeom prst="roundRect">
            <a:avLst>
              <a:gd name="adj" fmla="val 4651"/>
            </a:avLst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44568" y="2039112"/>
            <a:ext cx="658368" cy="658368"/>
          </a:xfrm>
          <a:prstGeom prst="ellipse">
            <a:avLst/>
          </a:prstGeom>
          <a:solidFill>
            <a:srgbClr val="222C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5744" y="2210288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44568" y="2834640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Build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44568" y="3200400"/>
            <a:ext cx="2889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step-by-step coding — you follow along and describe every line.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891272" y="1783080"/>
            <a:ext cx="3401568" cy="1965960"/>
          </a:xfrm>
          <a:prstGeom prst="roundRect">
            <a:avLst>
              <a:gd name="adj" fmla="val 4651"/>
            </a:avLst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147304" y="2039112"/>
            <a:ext cx="658368" cy="658368"/>
          </a:xfrm>
          <a:prstGeom prst="ellipse">
            <a:avLst/>
          </a:prstGeom>
          <a:solidFill>
            <a:srgbClr val="222C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8480" y="2210288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47304" y="2834640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Assignment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147304" y="3200400"/>
            <a:ext cx="2889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challenge that makes you apply it yourself before moving on.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85800" y="4160520"/>
            <a:ext cx="10789920" cy="1463040"/>
          </a:xfrm>
          <a:prstGeom prst="roundRect">
            <a:avLst>
              <a:gd name="adj" fmla="val 7500"/>
            </a:avLst>
          </a:prstGeom>
          <a:solidFill>
            <a:srgbClr val="222C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60120" y="4434840"/>
            <a:ext cx="914400" cy="914400"/>
          </a:xfrm>
          <a:prstGeom prst="ellipse">
            <a:avLst/>
          </a:prstGeom>
          <a:solidFill>
            <a:srgbClr val="0F173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7864" y="4672584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148840" y="437083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STRUCTURED AS A FULL UDEMY COURSE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2148840" y="4736592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is packaged into organized lessons on Udemy — downloadable resources, all assignments in one place, and lifetime access for anyone who wants a self-paced, structured version instead of following the weekly livestream.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FAR DO YOU WANT TO GO?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0515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watches. Fewer people finish the assignments — and that’s exactly where I show up.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071116" y="1691640"/>
            <a:ext cx="8046720" cy="960120"/>
          </a:xfrm>
          <a:prstGeom prst="trapezoid">
            <a:avLst/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071116" y="1783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71116" y="222199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sessions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79676" y="26791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who follows the series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 flipV="1">
            <a:off x="3259836" y="3035808"/>
            <a:ext cx="5669280" cy="960120"/>
          </a:xfrm>
          <a:prstGeom prst="trapezoid">
            <a:avLst/>
          </a:prstGeom>
          <a:solidFill>
            <a:srgbClr val="222C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59836" y="31272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59836" y="35661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only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79676" y="4023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self-paced, no assignments turned in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 flipV="1">
            <a:off x="4448556" y="4379976"/>
            <a:ext cx="3291840" cy="960120"/>
          </a:xfrm>
          <a:prstGeom prst="trapezoid">
            <a:avLst/>
          </a:prstGeom>
          <a:solidFill>
            <a:srgbClr val="F7D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48556" y="44714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48556" y="49103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+ Assignments + More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79676" y="53675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personally help this group get there [Instructor Assistant , Open-Source Software Team , ……]</a:t>
            </a:r>
            <a:endParaRPr lang="en-US" sz="1600" b="1" dirty="0"/>
          </a:p>
        </p:txBody>
      </p:sp>
      <p:sp>
        <p:nvSpPr>
          <p:cNvPr id="16" name="Text 14"/>
          <p:cNvSpPr/>
          <p:nvPr/>
        </p:nvSpPr>
        <p:spPr>
          <a:xfrm>
            <a:off x="8014716" y="465429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If you show up for the 10%, I show up for you.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07E944-4652-1458-688E-EAA2F036B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0DB9BC4-CBF4-AF9C-7600-7F9897F06D5D}"/>
              </a:ext>
            </a:extLst>
          </p:cNvPr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3200" b="1" dirty="0">
                <a:solidFill>
                  <a:schemeClr val="bg1"/>
                </a:solidFill>
              </a:rPr>
              <a:t>Your 10% Commitment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434EF29-2318-9F9F-354A-A1AA568630E7}"/>
              </a:ext>
            </a:extLst>
          </p:cNvPr>
          <p:cNvSpPr/>
          <p:nvPr/>
        </p:nvSpPr>
        <p:spPr>
          <a:xfrm>
            <a:off x="640080" y="2249424"/>
            <a:ext cx="64008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lvl="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Complete the </a:t>
            </a:r>
            <a:r>
              <a:rPr lang="en-US" sz="1600" b="1" dirty="0">
                <a:solidFill>
                  <a:schemeClr val="bg1"/>
                </a:solidFill>
              </a:rPr>
              <a:t>tasks</a:t>
            </a:r>
            <a:r>
              <a:rPr lang="en-US" sz="1600" dirty="0">
                <a:solidFill>
                  <a:schemeClr val="bg1"/>
                </a:solidFill>
              </a:rPr>
              <a:t> and share your progress on </a:t>
            </a:r>
            <a:r>
              <a:rPr lang="en-US" sz="1600" b="1" dirty="0">
                <a:solidFill>
                  <a:schemeClr val="bg1"/>
                </a:solidFill>
              </a:rPr>
              <a:t>LinkedIn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 marL="342900" lvl="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Maintain at least </a:t>
            </a:r>
            <a:r>
              <a:rPr lang="en-US" sz="1600" b="1" dirty="0">
                <a:solidFill>
                  <a:schemeClr val="bg1"/>
                </a:solidFill>
              </a:rPr>
              <a:t>90% attendance</a:t>
            </a:r>
            <a:r>
              <a:rPr lang="en-US" sz="1600" dirty="0">
                <a:solidFill>
                  <a:schemeClr val="bg1"/>
                </a:solidFill>
              </a:rPr>
              <a:t> throughout the course sessions.</a:t>
            </a:r>
          </a:p>
          <a:p>
            <a:pPr marL="342900" lvl="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Complete all required </a:t>
            </a:r>
            <a:r>
              <a:rPr lang="en-US" sz="1600" b="1" dirty="0">
                <a:solidFill>
                  <a:schemeClr val="bg1"/>
                </a:solidFill>
              </a:rPr>
              <a:t>prerequisite steps</a:t>
            </a:r>
            <a:r>
              <a:rPr lang="en-US" sz="1600" dirty="0">
                <a:solidFill>
                  <a:schemeClr val="bg1"/>
                </a:solidFill>
              </a:rPr>
              <a:t> before starting the main course content.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408B47E-ACC1-28EC-C2CD-6FCDDAB10FE1}"/>
              </a:ext>
            </a:extLst>
          </p:cNvPr>
          <p:cNvSpPr/>
          <p:nvPr/>
        </p:nvSpPr>
        <p:spPr>
          <a:xfrm>
            <a:off x="7406640" y="2121408"/>
            <a:ext cx="566928" cy="566928"/>
          </a:xfrm>
          <a:prstGeom prst="ellipse">
            <a:avLst/>
          </a:prstGeom>
          <a:solidFill>
            <a:srgbClr val="1B244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7FA3599A-BF02-FA1D-9EB2-70459DAD9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4041" y="2268809"/>
            <a:ext cx="272125" cy="272125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84DD0D9A-D2C9-E63F-61D5-3BE5C1531BBD}"/>
              </a:ext>
            </a:extLst>
          </p:cNvPr>
          <p:cNvSpPr/>
          <p:nvPr/>
        </p:nvSpPr>
        <p:spPr>
          <a:xfrm>
            <a:off x="8183880" y="20939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sz="1400" b="1" dirty="0">
                <a:solidFill>
                  <a:schemeClr val="bg1"/>
                </a:solidFill>
              </a:rPr>
              <a:t>Consistency matters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E4204B8-7A90-FBA3-B1D9-3A6EE4E73590}"/>
              </a:ext>
            </a:extLst>
          </p:cNvPr>
          <p:cNvSpPr/>
          <p:nvPr/>
        </p:nvSpPr>
        <p:spPr>
          <a:xfrm>
            <a:off x="8183880" y="245059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lnSpc>
                <a:spcPct val="120000"/>
              </a:lnSpc>
            </a:pPr>
            <a:r>
              <a:rPr lang="en-US" sz="1100" dirty="0">
                <a:solidFill>
                  <a:schemeClr val="bg1"/>
                </a:solidFill>
              </a:rPr>
              <a:t>Small daily progress is more valuable than studying everything at once.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FBF93E5E-D503-69EB-345D-B06098E07B7C}"/>
              </a:ext>
            </a:extLst>
          </p:cNvPr>
          <p:cNvSpPr/>
          <p:nvPr/>
        </p:nvSpPr>
        <p:spPr>
          <a:xfrm>
            <a:off x="7406640" y="3328416"/>
            <a:ext cx="566928" cy="566928"/>
          </a:xfrm>
          <a:prstGeom prst="ellipse">
            <a:avLst/>
          </a:prstGeom>
          <a:solidFill>
            <a:srgbClr val="1B244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D6D551DC-9ED7-A9EB-54EF-77ABAB105C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4041" y="3475817"/>
            <a:ext cx="272125" cy="272125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6DBB39C9-DA12-7824-A2B4-25213A4D8021}"/>
              </a:ext>
            </a:extLst>
          </p:cNvPr>
          <p:cNvSpPr/>
          <p:nvPr/>
        </p:nvSpPr>
        <p:spPr>
          <a:xfrm>
            <a:off x="8183880" y="33009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sz="1400" b="1" dirty="0">
                <a:solidFill>
                  <a:schemeClr val="bg1"/>
                </a:solidFill>
              </a:rPr>
              <a:t>Show up and stay committed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6287E9C8-518C-91D1-8754-99A7BAA9567A}"/>
              </a:ext>
            </a:extLst>
          </p:cNvPr>
          <p:cNvSpPr/>
          <p:nvPr/>
        </p:nvSpPr>
        <p:spPr>
          <a:xfrm>
            <a:off x="8183880" y="36576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Your progress depends on active participation, so aim to attend at least 90% of the sessions.</a:t>
            </a: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FD1A5C13-44E2-11F6-4DC2-A11AB4343D5B}"/>
              </a:ext>
            </a:extLst>
          </p:cNvPr>
          <p:cNvSpPr/>
          <p:nvPr/>
        </p:nvSpPr>
        <p:spPr>
          <a:xfrm>
            <a:off x="7406640" y="4535424"/>
            <a:ext cx="566928" cy="566928"/>
          </a:xfrm>
          <a:prstGeom prst="ellipse">
            <a:avLst/>
          </a:prstGeom>
          <a:solidFill>
            <a:srgbClr val="1B244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663945F7-CBC3-57AF-F815-AF478BB7BC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4041" y="4682825"/>
            <a:ext cx="272125" cy="272125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F5127D9A-C9EE-421B-2388-7B0C182D6901}"/>
              </a:ext>
            </a:extLst>
          </p:cNvPr>
          <p:cNvSpPr/>
          <p:nvPr/>
        </p:nvSpPr>
        <p:spPr>
          <a:xfrm>
            <a:off x="8183880" y="45079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sz="1400" b="1" dirty="0">
                <a:solidFill>
                  <a:schemeClr val="bg1"/>
                </a:solidFill>
              </a:rPr>
              <a:t>Start prepared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6BE44A3D-2370-7519-C526-4E15EAF93EAF}"/>
              </a:ext>
            </a:extLst>
          </p:cNvPr>
          <p:cNvSpPr/>
          <p:nvPr/>
        </p:nvSpPr>
        <p:spPr>
          <a:xfrm>
            <a:off x="8183880" y="486460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lnSpc>
                <a:spcPct val="120000"/>
              </a:lnSpc>
            </a:pPr>
            <a:r>
              <a:rPr lang="en-US" sz="1100" dirty="0">
                <a:solidFill>
                  <a:schemeClr val="bg1"/>
                </a:solidFill>
              </a:rPr>
              <a:t>Complete all prerequisites before the course starts so you can focus fully on the learning journey.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1359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BUILD EVERYTHING, TOGETHER.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 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023360"/>
            <a:ext cx="502920" cy="502920"/>
          </a:xfrm>
          <a:prstGeom prst="ellipse">
            <a:avLst/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415411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59" y="4050792"/>
            <a:ext cx="100525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Introduction To Programming Website : 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Link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Udemy Courses : Introduction To Programming : 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Link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C++ OOP Data Structure : 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Link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JavaScript Everywhere : </a:t>
            </a: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Link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4709160"/>
            <a:ext cx="502920" cy="502920"/>
          </a:xfrm>
          <a:prstGeom prst="ellipse">
            <a:avLst/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3719" y="483991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47365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for every project, open on GitHub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22960" y="5394960"/>
            <a:ext cx="502920" cy="502920"/>
          </a:xfrm>
          <a:prstGeom prst="ellipse">
            <a:avLst/>
          </a:prstGeom>
          <a:solidFill>
            <a:srgbClr val="1B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3719" y="5525719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54223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— we’re learning in public too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957</Words>
  <Application>Microsoft Office PowerPoint</Application>
  <PresentationFormat>Widescreen</PresentationFormat>
  <Paragraphs>136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mostafa saqly</cp:lastModifiedBy>
  <cp:revision>16</cp:revision>
  <dcterms:created xsi:type="dcterms:W3CDTF">2026-08-12T12:25:04Z</dcterms:created>
  <dcterms:modified xsi:type="dcterms:W3CDTF">2026-08-16T13:04:12Z</dcterms:modified>
</cp:coreProperties>
</file>